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416ef5-d041-0bac-3e5c-30454d31e8e1}">
          <p14:sldIdLst>
            <p14:sldId id="256"/>
            <p14:sldId id="257"/>
            <p14:sldId id="258"/>
            <p14:sldId id="259"/>
          </p14:sldIdLst>
        </p14:section>
        <p14:section name="Part 1: the Brain" id="{71997b6a-d0dd-fe3d-5ec4-1b1cecbd3c95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Part 2: EMANE" id="{dcfccb07-7fce-480c-731f-6f15e3ad6cf6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Close" id="{b8678726-a811-5804-8e9e-2975e84f7711}">
          <p14:sldIdLst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0"/>
                </a:solidFill>
                <a:latin typeface="+mn-lt"/>
              </a:rPr>
              <a:t>Mean extra slots over the proven optimum, N = 50-200 (110 networks)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extra slots vs optimum (N = 50-200)</c:v>
                </c:pt>
              </c:strCache>
            </c:strRef>
          </c:tx>
          <c:spPr>
            <a:solidFill>
              <a:srgbClr val="9AA5A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This tool (pipeline)</c:v>
                  </c:pt>
                  <c:pt idx="1">
                    <c:v>portfolio: smallest-last</c:v>
                  </c:pt>
                  <c:pt idx="2">
                    <c:v>portfolio: RLF</c:v>
                  </c:pt>
                  <c:pt idx="3">
                    <c:v>portfolio: DSATUR</c:v>
                  </c:pt>
                  <c:pt idx="4">
                    <c:v>networkx random</c:v>
                  </c:pt>
                  <c:pt idx="5">
                    <c:v>networkx connected-BFS</c:v>
                  </c:pt>
                  <c:pt idx="6">
                    <c:v>networkx independent-set</c:v>
                  </c:pt>
                  <c:pt idx="7">
                    <c:v>networkx DSATUR</c:v>
                  </c:pt>
                  <c:pt idx="8">
                    <c:v>networkx smallest-last</c:v>
                  </c:pt>
                  <c:pt idx="9">
                    <c:v>networkx largest-first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0.03</c:v>
                </c:pt>
                <c:pt idx="2">
                  <c:v>0.06</c:v>
                </c:pt>
                <c:pt idx="3">
                  <c:v>0.11</c:v>
                </c:pt>
                <c:pt idx="4">
                  <c:v>1.82</c:v>
                </c:pt>
                <c:pt idx="5">
                  <c:v>0.74</c:v>
                </c:pt>
                <c:pt idx="6">
                  <c:v>2.2</c:v>
                </c:pt>
                <c:pt idx="7">
                  <c:v>0.1</c:v>
                </c:pt>
                <c:pt idx="8">
                  <c:v>0.03</c:v>
                </c:pt>
                <c:pt idx="9">
                  <c:v>0.47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E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A30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E2A30"/>
                </a:solidFill>
                <a:latin typeface="+mn-lt"/>
              </a:rPr>
              <a:t>Successful receptions per slot (slot-level simulator, saturated broadcast)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This tool (distance-2, optimal)</c:v>
                </c:pt>
              </c:strCache>
            </c:strRef>
          </c:tx>
          <c:spPr>
            <a:solidFill>
              <a:srgbClr val="12877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16 nodes, 1 km²</c:v>
                  </c:pt>
                  <c:pt idx="1">
                    <c:v>16 nodes, 1.6 km²</c:v>
                  </c:pt>
                  <c:pt idx="2">
                    <c:v>50 nodes, 2 km²</c:v>
                  </c:pt>
                  <c:pt idx="3">
                    <c:v>200 nodes, 4 km²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9.17</c:v>
                </c:pt>
                <c:pt idx="1">
                  <c:v>7.71</c:v>
                </c:pt>
                <c:pt idx="2">
                  <c:v>26</c:v>
                </c:pt>
                <c:pt idx="3">
                  <c:v>95.22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Round-robin TDMA (no reuse)</c:v>
                </c:pt>
              </c:strCache>
            </c:strRef>
          </c:tx>
          <c:spPr>
            <a:solidFill>
              <a:srgbClr val="9AA5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16 nodes, 1 km²</c:v>
                  </c:pt>
                  <c:pt idx="1">
                    <c:v>16 nodes, 1.6 km²</c:v>
                  </c:pt>
                  <c:pt idx="2">
                    <c:v>50 nodes, 2 km²</c:v>
                  </c:pt>
                  <c:pt idx="3">
                    <c:v>200 nodes, 4 km²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7.19</c:v>
                </c:pt>
                <c:pt idx="1">
                  <c:v>3.49</c:v>
                </c:pt>
                <c:pt idx="2">
                  <c:v>7.87</c:v>
                </c:pt>
                <c:pt idx="3">
                  <c:v>8.89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Distance-1 colouring (hidden terminals)</c:v>
                </c:pt>
              </c:strCache>
            </c:strRef>
          </c:tx>
          <c:spPr>
            <a:solidFill>
              <a:srgbClr val="D9533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16 nodes, 1 km²</c:v>
                  </c:pt>
                  <c:pt idx="1">
                    <c:v>16 nodes, 1.6 km²</c:v>
                  </c:pt>
                  <c:pt idx="2">
                    <c:v>50 nodes, 2 km²</c:v>
                  </c:pt>
                  <c:pt idx="3">
                    <c:v>200 nodes, 4 km²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7.4</c:v>
                </c:pt>
                <c:pt idx="1">
                  <c:v>6.03</c:v>
                </c:pt>
                <c:pt idx="2">
                  <c:v>17.49</c:v>
                </c:pt>
                <c:pt idx="3">
                  <c:v>56.06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A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E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E2A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task is a centralised TDMA scheduler (Part 1, mandatory) plus EMANE enforcement (Part 2, bonus). Three headline numbers: 9 slots, proven minimal, for the sample grid; zero collisions confirmed three independent ways; and in EMANE the schedule is enforced, 99.96 % delivery on links and 0 % off-links.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two collision mechanisms from the problem statement. Distance-2 colouring means two nodes that are adjacent, or share a neighbour, get different slots. Everything further apart may reuse a slot.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Reduction: distance-2 colouring of G equals ordinary colouring of the square graph, so all classical colouring algorithms apply. The clique lower bound is what lets me prove optimality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first thing a careful reader notices: the PDF's sample output is a format template. Verified by an automated test and by the independent reviewer's ILP. Copying 5 slots would fail the collision criterion.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 portfolio: no single colouring heuristic wins everywhere (the benchmark shows the winner changes). Why the exact step: heuristics cannot tell you they are optimal; at N = 16 the proof costs milliseconds. Exact optimum cross-checked against a scipy/HiGHS ILP on 120 random instances.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live: python tdma_scheduler.py --file inputs/grid_4x4.json. Options: --verbose, --max-reuse, --simulate 100, --json-out.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panel is one slot: filled nodes transmit, the wash is their 500 m coverage. The inner four nodes each need their own slot because every one of them is within 2 hops of almost everyone.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single heuristic misses the optimum somewhere; networkx independent-set misses on all 20 networks at N = 200. Honest note: on random unit-disk graphs the best of all seven networkx strategies together is usually optimal too; the pipeline's value is that it reaches the optimum every time and proves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Round-robin is collision-free but wastes the channel; a 1-hop-only colouring uses fewer slots but loses half its packets to hidden terminals. Distance-2 colouring gets both: no losses and spatial reuse.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verification is layered so that no single bug can produce a false 'conflict-free'. The reviewer's defects were all at the input/output boundary (encoding, overflow, exit codes, a sub-micrometre tolerance); none affected collisions.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EMANE 1.5.3 on one Linux machine (WSL2 Ubuntu 24.04), 16 emulated radios.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requested formats are implemented and tested: the XML route (what emaneevent-tdmaschedule does) and the ProtoBuf route (TDMAScheduleEvent built directly). Precomputed pathloss makes EMANE's connectivity identical to the Brain's 500 m 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schedule XML is generated from the matrix: one slot element per row. The PCR curve for 12 Mbit/s gives 0 % reception at SINR &lt;= 3 dB and 100 % at &gt;= 9 dB, so overlap is fatal and a clean link is perfect.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16 NEMs accepted every schedule (0 rejects); traffic starts only after that is confirmed. E1 residual loss (0.12 %) is host timing: EMANE missed 76 of 47703 TX slots because realtime priority needs root. Mean latency 5.73 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evidence uses physical events at both ends: frames the sender put on the air (EMANE PHY) and frames the receiver got in each slot (EMANE RxSlotStatusTable). It does not rely on EMANE's installed-schedule tables, which an independent reviewer correctly pointed out would only compare the schedule with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Replication answers the 'single run' objection: five different Poisson traffic seeds per schedule, mean and 95 % confidence interval (Student t, 4 degrees of freedom).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E5 deliberately breaks the task's unit-disk assumption. Free space has a long tail: co-slot transmitters 900 m apart are only about 6.5 dB weaker than a 424 m link, below the 9 dB the 12 Mbit/s curve needs. The remedy stays inside the Brain: plan with an interference radius (--range) larger than the decode range, add power margin, or use a terrain path-loss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limitation is also in the documentation PDF with its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three words: correct, optimal, enforced. Then demo the CLI and show emane/results/summary.md.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859536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595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125151" y="502920"/>
            <a:ext cx="128016" cy="128016"/>
          </a:xfrm>
          <a:prstGeom prst="rect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98887" y="502920"/>
            <a:ext cx="128016" cy="128016"/>
          </a:xfrm>
          <a:prstGeom prst="rect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2623" y="502920"/>
            <a:ext cx="128016" cy="12801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46359" y="502920"/>
            <a:ext cx="128016" cy="128016"/>
          </a:xfrm>
          <a:prstGeom prst="rect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20095" y="502920"/>
            <a:ext cx="128016" cy="128016"/>
          </a:xfrm>
          <a:prstGeom prst="rect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93831" y="502920"/>
            <a:ext cx="128016" cy="128016"/>
          </a:xfrm>
          <a:prstGeom prst="rect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167567" y="502920"/>
            <a:ext cx="128016" cy="128016"/>
          </a:xfrm>
          <a:prstGeom prst="rect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41303" y="502920"/>
            <a:ext cx="128016" cy="128016"/>
          </a:xfrm>
          <a:prstGeom prst="rect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15039" y="502920"/>
            <a:ext cx="128016" cy="128016"/>
          </a:xfrm>
          <a:prstGeom prst="rect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Vaan Megam Networks  ·  TDMA Schedule Planner &amp; Optimizer</a:t>
            </a:r>
            <a:endParaRPr lang="en-US" sz="1000" dirty="0"/>
          </a:p>
        </p:txBody>
      </p:sp>
      <p:sp>
        <p:nvSpPr>
          <p:cNvPr id="1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B2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00584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8595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TDMA Schedule Planner &amp; Optimizer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Distance-2 graph colouring for collision-free TDMA, enforced in an EMANE emulation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520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Sanjay Suresh  ·  Vaan Megam Networks, Wireless Protocol Development internship task  ·  October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464040" y="114300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64040" y="1143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177272" y="114300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177272" y="1143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890504" y="1143000"/>
            <a:ext cx="603504" cy="603504"/>
          </a:xfrm>
          <a:prstGeom prst="roundRect">
            <a:avLst>
              <a:gd name="adj" fmla="val 909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90504" y="1143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464040" y="185623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464040" y="18562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177272" y="185623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177272" y="18562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0890504" y="1856232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890504" y="185623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464040" y="2569464"/>
            <a:ext cx="603504" cy="603504"/>
          </a:xfrm>
          <a:prstGeom prst="roundRect">
            <a:avLst>
              <a:gd name="adj" fmla="val 9091"/>
            </a:avLst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464040" y="25694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177272" y="2569464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177272" y="25694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890504" y="2569464"/>
            <a:ext cx="603504" cy="603504"/>
          </a:xfrm>
          <a:prstGeom prst="roundRect">
            <a:avLst>
              <a:gd name="adj" fmla="val 9091"/>
            </a:avLst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890504" y="256946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2976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33B46"/>
          </a:solidFill>
          <a:ln w="12700">
            <a:solidFill>
              <a:srgbClr val="133B4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slots</a:t>
            </a:r>
            <a:endParaRPr lang="en-US" sz="3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57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optimal for the PDF's 16-node sample grid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297680" y="42976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33B46"/>
          </a:solidFill>
          <a:ln w="12700">
            <a:solidFill>
              <a:srgbClr val="133B4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0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collisions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257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verifier, simulator and EMANE agree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4297680"/>
            <a:ext cx="3474720" cy="1737360"/>
          </a:xfrm>
          <a:prstGeom prst="roundRect">
            <a:avLst>
              <a:gd name="adj" fmla="val 4211"/>
            </a:avLst>
          </a:prstGeom>
          <a:solidFill>
            <a:srgbClr val="133B46"/>
          </a:solidFill>
          <a:ln w="12700">
            <a:solidFill>
              <a:srgbClr val="133B4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21040" y="44805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99.88 %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8321040" y="5257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 delivery on scheduled links (0 % off-links)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Radios share one channel by taking turns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a repeating frame of slots; each radio transmits only in its own slot.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 (1 hop): A and B cannot both talk; each would miss the other.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terminal (2 hops): A and C cannot hear each other, but collide at B.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2 hops apart: the same slot is safe. That is spatial reuse.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0"/>
            <a:ext cx="5394960" cy="1188720"/>
          </a:xfrm>
          <a:prstGeom prst="roundRect">
            <a:avLst>
              <a:gd name="adj" fmla="val 6154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484632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give every radio a slot so that no receiver ever hears two transmitters at once, using as few slots as possible.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325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Distance-1: direct link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05472" y="194767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205472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400032" y="194767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400032" y="194767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18120" y="2240280"/>
            <a:ext cx="1554480" cy="914"/>
          </a:xfrm>
          <a:prstGeom prst="line">
            <a:avLst/>
          </a:prstGeom>
          <a:noFill/>
          <a:ln w="31750">
            <a:solidFill>
              <a:srgbClr val="D9533A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7680960" y="26060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slots required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2918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Distance-2: hidden terminal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31152" y="40507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31152" y="4050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622792" y="4050792"/>
            <a:ext cx="585216" cy="585216"/>
          </a:xfrm>
          <a:prstGeom prst="ellipse">
            <a:avLst/>
          </a:prstGeom>
          <a:solidFill>
            <a:srgbClr val="D9533A"/>
          </a:solidFill>
          <a:ln w="25400">
            <a:solidFill>
              <a:srgbClr val="D953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22792" y="4050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314432" y="4050792"/>
            <a:ext cx="585216" cy="58521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B2A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314432" y="4050792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43800" y="4343400"/>
            <a:ext cx="1051560" cy="914"/>
          </a:xfrm>
          <a:prstGeom prst="line">
            <a:avLst/>
          </a:prstGeom>
          <a:noFill/>
          <a:ln w="25400">
            <a:solidFill>
              <a:srgbClr val="0B2A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9235440" y="4343400"/>
            <a:ext cx="1051560" cy="914"/>
          </a:xfrm>
          <a:prstGeom prst="line">
            <a:avLst/>
          </a:prstGeom>
          <a:noFill/>
          <a:ln w="25400">
            <a:solidFill>
              <a:srgbClr val="0B2A33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7955280" y="47548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5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and C collide at B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675120" y="54864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 radio range: radios within 500 m are linked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model: colour the square of the radio graph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80744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G: link if distance ≤ 500 m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networkx graph; squared distances, inclusive boundary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441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40487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G²: join nodes ≤ 2 hops apart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1576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1-hop and 2-hop conflicts in one conflict graph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65576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4290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= colour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73989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proper colouring of H is a collision-free schedule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489704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489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45312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colours = χ(G²), NP-hard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7640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ω(G²): a clique of H needs distinct slots</a:t>
            </a:r>
            <a:endParaRPr lang="en-US" sz="1400" dirty="0"/>
          </a:p>
        </p:txBody>
      </p:sp>
      <p:pic>
        <p:nvPicPr>
          <p:cNvPr id="19" name="Image 0" descr="C:\Sanjay\Internship\Vaan Magam\tdma-schedule-optimizer\docs\figures\grid_topolog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188720"/>
            <a:ext cx="4983480" cy="44988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629400" y="57150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grid: 42 links (300 m and 424 m), each node hears up to 8 others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sample output is infeasible: 9 slots is minimal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FBE9E5"/>
          </a:solidFill>
          <a:ln w="12700">
            <a:solidFill>
              <a:srgbClr val="FBE9E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54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5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two-hop conflicts in the PDF's 5-slot sample assignment, checked against its own 4×4 grid input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55080" y="137160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675120" y="1554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3317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slots: provably the minimum. Any 3×3 block of nodes is pairwise within 2 hops, a 9-clique of G²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1148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the sample gives Node_01 and Node_03 the same slot, yet both hear Node_02 (hidden terminal).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colouring 3·(i mod 3) + (j mod 3) reaches 9, and this tool finds a 9-slot schedule in 1.4 ms.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follow the sample's format exactly (--sample-format is byte-for-byte), not its numbers.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Heuristics first, then a proof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057400" cy="1783080"/>
          </a:xfrm>
          <a:prstGeom prst="roundRect">
            <a:avLst>
              <a:gd name="adj" fmla="val 410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ω(G²) by exact max clique (Bron-Kerbosch)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03120" y="1572768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031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24328" y="2350008"/>
            <a:ext cx="164592" cy="914"/>
          </a:xfrm>
          <a:prstGeom prst="line">
            <a:avLst/>
          </a:prstGeom>
          <a:noFill/>
          <a:ln w="25400">
            <a:solidFill>
              <a:srgbClr val="0B2A33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07208" y="1463040"/>
            <a:ext cx="2057400" cy="1783080"/>
          </a:xfrm>
          <a:prstGeom prst="roundRect">
            <a:avLst>
              <a:gd name="adj" fmla="val 410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944368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44368" y="201168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DSATUR, RLF, largest-first, smallest-last, BFS, sweep, 64 random orders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61688" y="1572768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61688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82896" y="2350008"/>
            <a:ext cx="164592" cy="914"/>
          </a:xfrm>
          <a:prstGeom prst="line">
            <a:avLst/>
          </a:prstGeom>
          <a:noFill/>
          <a:ln w="25400">
            <a:solidFill>
              <a:srgbClr val="0B2A3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065776" y="1463040"/>
            <a:ext cx="2057400" cy="1783080"/>
          </a:xfrm>
          <a:prstGeom prst="roundRect">
            <a:avLst>
              <a:gd name="adj" fmla="val 410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02936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Iterated greedy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02936" y="201168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recolour by classes; can never use more slots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620256" y="1572768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620256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141464" y="2350008"/>
            <a:ext cx="164592" cy="914"/>
          </a:xfrm>
          <a:prstGeom prst="line">
            <a:avLst/>
          </a:prstGeom>
          <a:noFill/>
          <a:ln w="25400">
            <a:solidFill>
              <a:srgbClr val="0B2A33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24344" y="1463040"/>
            <a:ext cx="2057400" cy="1783080"/>
          </a:xfrm>
          <a:prstGeom prst="roundRect">
            <a:avLst>
              <a:gd name="adj" fmla="val 410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61504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TabuCol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461504" y="201168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search: try K−1, K−2, …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78824" y="1572768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78824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400032" y="2350008"/>
            <a:ext cx="164592" cy="914"/>
          </a:xfrm>
          <a:prstGeom prst="line">
            <a:avLst/>
          </a:prstGeom>
          <a:noFill/>
          <a:ln w="25400">
            <a:solidFill>
              <a:srgbClr val="0B2A33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582912" y="1463040"/>
            <a:ext cx="2057400" cy="1783080"/>
          </a:xfrm>
          <a:prstGeom prst="roundRect">
            <a:avLst>
              <a:gd name="adj" fmla="val 4103"/>
            </a:avLst>
          </a:prstGeom>
          <a:solidFill>
            <a:srgbClr val="E2F1EF"/>
          </a:solidFill>
          <a:ln w="12700">
            <a:solidFill>
              <a:srgbClr val="E2F1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20072" y="157276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B&amp;B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9720072" y="2011680"/>
            <a:ext cx="1783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DSATUR branch-and-bound proves the optimum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1137392" y="1572768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1137392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48640" y="3566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361188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runs only while K exceeds the lower bound: on the sample grid DSATUR hits 9 = ω and the pipeline stops after the portfolio (1.4 ms).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7548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verifier</a:t>
            </a:r>
            <a:pPr indent="0" marL="0">
              <a:buNone/>
            </a:pPr>
            <a:r>
              <a:rPr lang="en-US" sz="16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separate implementation (no networkx) recomputes links from the raw coordinates and checks every same-slot pair of the printed matrix. Exit code 0 only if it passes.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Output: the required report, verified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64240" cy="3611880"/>
          </a:xfrm>
          <a:prstGeom prst="roundRect">
            <a:avLst>
              <a:gd name="adj" fmla="val 2025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80160"/>
            <a:ext cx="106984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TDMA TOPOLOGY OPTIMIZATION REPORT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================================================================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Nodes Processed :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Configured Radio Range : 500.0 meters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Optimized Frame Length : 9 unique timeslots (Lower is better)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Theoretical Lower Bound: 9 timeslots (largest 2-hop clique) -&gt; PROVEN OPTIMAL (frame length = lower bound)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Spatial Reuse Factor   : 1.78 transmitters/slot (16 nodes in 9 slots; one-node-per-slot TDMA would need 16)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Selected Heuristic     : DSATUR (portfolio of 7 runs, 1.4 ms)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-&gt; SLOT ASSIGNMENTS: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Node_01: Slot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Node_02: Slot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STRUCTURAL TDMA SCHEDULE MATRIX (Slot x Node Boolean Matrix):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\ Node | 01 | 02 | 03 | 04 | 05 | 06 | 07 | 08 | 09 | 10 | 11 | 12 | 13 | 14 | 15 | 16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-------------------------------------------------------------------------------------------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00     |  1 |  0 |  0 |  1 |  0 |  0 |  0 |  0 |  0 |  0 |  0 |  0 |  1 |  0 |  0 | 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01     |  0 |  1 |  0 |  0 |  0 |  0 |  0 |  0 |  0 |  0 |  0 |  0 |  0 |  1 |  0 | 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Slot 02     |  0 |  0 |  1 |  0 |  0 |  0 |  0 |  0 |  0 |  0 |  0 |  0 |  0 |  0 |  1 | 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...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Independent verification: 10 same-slot pairs checked, 0 conflicts (1-hop and 2-hop)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finalized cleanly. Schedule verified conflict-free.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layout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5349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sections and labels; --sample-format is byte-exact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64992" y="5029200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64992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67912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printed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67912" y="5349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bound and optimality status in the header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5029200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81344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684264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claimed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84264" y="5349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check; exit code 0 / 1 / 2 / 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97696" y="5029200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97696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500616" y="4983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input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500616" y="5349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string, @file, --file, stdin; PowerShell quote repair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reuse: 16 radios in 9 slots</a:t>
            </a:r>
            <a:endParaRPr lang="en-US" sz="2800" dirty="0"/>
          </a:p>
        </p:txBody>
      </p:sp>
      <p:pic>
        <p:nvPicPr>
          <p:cNvPr id="3" name="Image 0" descr="C:\Sanjay\Internship\Vaan Magam\tdma-schedule-optimizer\docs\figures\grid_4x4_slo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120640" cy="51206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3716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1.78×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2148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of one-node-per-slot TDMA: 9.33 vs 5.25 successful receptions per slot (slot-level simulator)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315468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Corners share slot 0; edge nodes 900 m apart share slots 1, 2, 3 and 6.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receiver lies inside two coverage discs of the same slot.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--max-reuse adds extra non-conflicting slots in the same frame (random_16: 16 → 26 transmissions per frame).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638 of 638 networks solved optimally, with proof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694944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7863840" y="13258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638/638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863840" y="210312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networks (N = 13-200) solved optimally with a proof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7863840" y="28803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of 28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3657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where the optimum exceeds the clique bound: only the exact search can prove them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44348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43 ms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5212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N = 200 (mean 1.28 ms at N = 16)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2-hop rule matters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188720"/>
          <a:ext cx="7315200" cy="4937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0" y="1325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8229600" y="210312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receptions lost by this tool's schedules on 638 benchmark networks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3063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5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54-70 %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38404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receptions lost by a distance-1 colouring (hidden terminals)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4663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×10.7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544068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vs round-robin at 200 nodes (95.2 vs 8.9 per slot)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Trust: verified independently, three 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G² vs networkx (500 graphs) · verifier vs brute force (1 500) · exact B&amp;B vs ILP (120) · printed report re-parsed and re-verified · identical output under 3 hash seeds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32588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collisions found by an independent reviewer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1546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AI reviewer, no access to my reasoning: 320 fuzzed CLI runs with its own checker and ILP. Found 8 input/output robustness defects; all 8 fixed with regression tests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474720" cy="4480560"/>
          </a:xfrm>
          <a:prstGeom prst="roundRect">
            <a:avLst>
              <a:gd name="adj" fmla="val 2105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21040" y="15544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83.9 vs 84.36 %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4231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 vs EMANE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154680"/>
            <a:ext cx="29260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models predict and measure the same hidden-terminal losses on a deliberately wrong schedule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2: the EMANE engine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4290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real TDMA emulator carry and drop packets exactly as the Brain planned?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matrix to EMANE in one bridge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331720" cy="2011680"/>
          </a:xfrm>
          <a:prstGeom prst="roundRect">
            <a:avLst>
              <a:gd name="adj" fmla="val 3636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572768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 JSON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011680"/>
            <a:ext cx="2057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--json-out: nodes, NEM ids, Slot × Node matrix, 500 m links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926080" y="2468880"/>
            <a:ext cx="365760" cy="914"/>
          </a:xfrm>
          <a:prstGeom prst="line">
            <a:avLst/>
          </a:prstGeom>
          <a:noFill/>
          <a:ln w="25400">
            <a:solidFill>
              <a:srgbClr val="0B2A33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37560" y="1463040"/>
            <a:ext cx="2468880" cy="2011680"/>
          </a:xfrm>
          <a:prstGeom prst="roundRect">
            <a:avLst>
              <a:gd name="adj" fmla="val 3636"/>
            </a:avLst>
          </a:prstGeom>
          <a:solidFill>
            <a:srgbClr val="E2F1EF"/>
          </a:solidFill>
          <a:ln w="12700">
            <a:solidFill>
              <a:srgbClr val="E2F1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5727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schedule_to_emane.py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01168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against EMANE's own XSD; round-trip checked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852160" y="2468880"/>
            <a:ext cx="365760" cy="914"/>
          </a:xfrm>
          <a:prstGeom prst="line">
            <a:avLst/>
          </a:prstGeom>
          <a:noFill/>
          <a:ln w="25400">
            <a:solidFill>
              <a:srgbClr val="0B2A33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263640" y="1325880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73368" y="1344168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schedule.xml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TDMA schedule (XML route)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929384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73368" y="194767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TDMAScheduleEvent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ProtoBuf, one event per NEM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2532888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3368" y="2551176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pathloss 90 / 200 dB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EMANE's channel = the 500 m graph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3136392"/>
            <a:ext cx="2651760" cy="530352"/>
          </a:xfrm>
          <a:prstGeom prst="roundRect">
            <a:avLst>
              <a:gd name="adj" fmla="val 1379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73368" y="3154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× platform XML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transport → TDMA MAC → PHY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61120" y="2468880"/>
            <a:ext cx="365760" cy="914"/>
          </a:xfrm>
          <a:prstGeom prst="line">
            <a:avLst/>
          </a:prstGeom>
          <a:noFill/>
          <a:ln w="25400">
            <a:solidFill>
              <a:srgbClr val="0B2A3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72600" y="1463040"/>
            <a:ext cx="2286000" cy="2011680"/>
          </a:xfrm>
          <a:prstGeom prst="roundRect">
            <a:avLst>
              <a:gd name="adj" fmla="val 3636"/>
            </a:avLst>
          </a:prstGeom>
          <a:solidFill>
            <a:srgbClr val="0B2A33"/>
          </a:solidFill>
          <a:ln w="12700">
            <a:solidFill>
              <a:srgbClr val="0B2A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509760" y="157276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 1.5.3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201168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NEMs, each in its own unprivileged network namespace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509760" y="201168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NEMs, each in its own unprivileged network namespace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3977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97280" y="394106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Rootless install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251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Docker, no sudo: the official .debs are extracted into a user sysroot (install_rootless.sh); a Dockerfile is provided but not built here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4892040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97280" y="485546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Testbed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097280" y="51663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bridge for OTA and event multicast; Poisson UDP broadcast probes; statistics read from every NEM's control 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TDMA profile: 1 ms slots, 9-slot frame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 µs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762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(100 µs guard ≫ 1.7 µs propagation over 500 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364992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47872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ms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1762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= 9 slots, 1 frame per multiframe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81344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64224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 GHz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1762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 · 10 MHz bandwidth · 30 dBm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97696" y="132588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80576" y="1463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1350 B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1762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slot at 12 Mbit/s (12·10⁶ × 900 µs / 8)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6492240" cy="2788920"/>
          </a:xfrm>
          <a:prstGeom prst="roundRect">
            <a:avLst>
              <a:gd name="adj" fmla="val 2623"/>
            </a:avLst>
          </a:prstGeom>
          <a:solidFill>
            <a:srgbClr val="F4F6F6"/>
          </a:solidFill>
          <a:ln w="12700">
            <a:solidFill>
              <a:srgbClr val="F4F6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429000"/>
            <a:ext cx="6217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&lt;emane-tdma-schedule&gt;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&lt;structure frames="1" slots="9" slotoverhead="100"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slotduration="1000" bandwidth="10M"/&gt;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&lt;multiframe frequency="2.4G" power="30" class="0" datarate="12M"&gt;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&lt;frame index="0"&gt;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&lt;slot index="0" nodes="1,4,13,16"/&gt;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&lt;slot index="1" nodes="2,14"/&gt;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&lt;slot index="8" nodes="11"/&gt;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&lt;/frame&gt;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&lt;/multiframe&gt;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A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&lt;/emane-tdma-schedule&gt;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360920" y="3429000"/>
            <a:ext cx="42976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Defined slot = TX for the listed NEMs; every other slot defaults to RX (half-duplex TDMA)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budget: 30 − 90 = −60 dBm vs −100 dBm noise → SNR 40 dB, always decoded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equal signals: SINR ≈ 0 dB, below the 12 Mbit/s curve's 3 dB floor → collision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EMANE carries and drops packets as planned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6424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640080"/>
                <a:gridCol w="2651760"/>
                <a:gridCol w="1005840"/>
                <a:gridCol w="2377440"/>
                <a:gridCol w="146304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Experiment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Slots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Delivery on 500 m links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Non-links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Frames heard in sender's slot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Collision drops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E1  Brain schedule (XML route)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99.88 %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99.89 %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E1b  same, ProtoBuf route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99.93 %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99.93 %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E2  Node_06's slot removed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others 99.99 %; Node_06 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99.98 %; Node_06 sent 0 frames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0 (532 queue drops)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E3  wrong (distance-1) schedule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84.36 %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99.58 %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532 kB (SINR)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E4  E1 at 400 pkt/s per node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96.63 %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96.78 %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0 kB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434840"/>
            <a:ext cx="384048" cy="384048"/>
          </a:xfrm>
          <a:prstGeom prst="ellipse">
            <a:avLst/>
          </a:prstGeom>
          <a:solidFill>
            <a:srgbClr val="12877F"/>
          </a:solidFill>
          <a:ln w="12700">
            <a:solidFill>
              <a:srgbClr val="12877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4434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439826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Permitted where planned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47091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scheduled link delivers; no frame ever crosses a non-link; latency = half a frame + one slot, as TDMA theory predicts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5303520"/>
            <a:ext cx="384048" cy="384048"/>
          </a:xfrm>
          <a:prstGeom prst="ellipse">
            <a:avLst/>
          </a:prstGeom>
          <a:solidFill>
            <a:srgbClr val="D9533A"/>
          </a:solidFill>
          <a:ln w="12700">
            <a:solidFill>
              <a:srgbClr val="D9533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5303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52669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where the schedule says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97280" y="55778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node without a TX slot puts 0 frames on the air (its queue overflows); a schedule that breaks the 2-hop rule collides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sender is heard only in its planned slot</a:t>
            </a:r>
            <a:endParaRPr lang="en-US" sz="2800" dirty="0"/>
          </a:p>
        </p:txBody>
      </p:sp>
      <p:pic>
        <p:nvPicPr>
          <p:cNvPr id="3" name="Image 0" descr="C:\Sanjay\Internship\Vaan Magam\tdma-schedule-optimizer\docs\figures\emane_slot_enforc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8229600" cy="2615184"/>
          </a:xfrm>
          <a:prstGeom prst="rect">
            <a:avLst/>
          </a:prstGeom>
        </p:spPr>
      </p:pic>
      <p:pic>
        <p:nvPicPr>
          <p:cNvPr id="4" name="Image 1" descr="C:\Sanjay\Internship\Vaan Magam\tdma-schedule-optimizer\docs\figures\emane_slot_at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1188720"/>
            <a:ext cx="2651760" cy="2322576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48640" y="40690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77240" y="4160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2877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99.89 %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4892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each sender's over-the-air frames were received by its neighbours in exactly its planned slot (84 links, min 99.7 %)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297680" y="40690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526280" y="4160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6"/>
          <p:cNvSpPr txBox="1"/>
          <p:nvPr/>
        </p:nvSpPr>
        <p:spPr>
          <a:xfrm>
            <a:off x="4526280" y="4892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received in any slot where the receiver has no scheduled neighbour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8046720" y="406908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275320" y="416052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8275320" y="489204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transmitted by Node_06 once its slot was removed (E2)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Predicted = measured, and repeatable</a:t>
            </a:r>
            <a:endParaRPr lang="en-US" sz="2800" dirty="0"/>
          </a:p>
        </p:txBody>
      </p:sp>
      <p:pic>
        <p:nvPicPr>
          <p:cNvPr id="3" name="Image 0" descr="C:\Sanjay\Internship\Vaan Magam\tdma-schedule-optimizer\docs\figures\emane_e3_predicted_vs_measu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754880" cy="44439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669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E3 (wrong schedule): my slot-level simulator vs EMANE, per link (83.9 % vs 84.36 % overall)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325880"/>
          <a:ext cx="5897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011680"/>
                <a:gridCol w="1280160"/>
                <a:gridCol w="1051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Schedule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Delivery on links, 5 traffic seeds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Mean ± 95 % CI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Expected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5F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E1 Brain (9 slots)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99.87, 99.98, 99.87, 99.93, 99.90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99.91 ± 0.06 %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100 %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A30"/>
                          </a:solidFill>
                        </a:rPr>
                        <a:t>E3 distance-1 (4 slots)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84.8, 84.8, 84.7, 85.0, 84.7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84.8 ± 0.1 %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A30"/>
                          </a:solidFill>
                        </a:rPr>
                        <a:t>83.9 % (simulator)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760720" y="3383280"/>
            <a:ext cx="5897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implementations agree: </a:t>
            </a:r>
            <a:pPr indent="0" marL="0">
              <a:buNone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with two hidden interferers deliver about 60 %, links with one about 85 %, links with none 100 %, in both the simulator and EMANE's PHY/MAC.</a:t>
            </a:r>
            <a:endParaRPr lang="en-US" sz="15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4572000"/>
            <a:ext cx="5897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follows TDMA theory: </a:t>
            </a:r>
            <a:pPr indent="0" marL="0">
              <a:buNone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a frame + one slot. Measured 5.73 ms (9-slot frame) and 3.24 ms (4-slot frame).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Stress tests: 10× load, and a physical channel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EF5F4"/>
          </a:solidFill>
          <a:ln w="12700">
            <a:solidFill>
              <a:srgbClr val="EEF5F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E4: 400 packets/s per node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96.63 % delivered on links. Several packets are aggregated into one 1 ms slot (1350 B), so the 9-slot schedule carries 10× the load; the remaining loss is slot-timing jitter on the rootless host (0 collisions, 0 queue drops).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63640" y="12801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DF3E3"/>
          </a:solidFill>
          <a:ln w="12700">
            <a:solidFill>
              <a:srgbClr val="FDF3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92240" y="141732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E5: free-space path loss for every pair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500 m cut-off (power set so the 100 % decode edge is about 500 m). Links 83.42 %, and 98.83 % reaches some non-neighbours: physics has no hard edge.</a:t>
            </a:r>
            <a:endParaRPr lang="en-US" sz="1500" dirty="0"/>
          </a:p>
        </p:txBody>
      </p:sp>
      <p:pic>
        <p:nvPicPr>
          <p:cNvPr id="7" name="Image 0" descr="C:\Sanjay\Internship\Vaan Magam\tdma-schedule-optimizer\docs\figures\emane_delivery_matric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703320"/>
            <a:ext cx="11064240" cy="2514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0"/>
          <p:cNvSpPr/>
          <p:nvPr>
            <p:ph idx="110" type="title" hasCustomPrompt="1"/>
          </p:nvPr>
        </p:nvSpPr>
        <p:spPr>
          <a:xfrm>
            <a:off x="548640" y="32004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stated plainly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138074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model = unit disk (500 m), as the task defines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6916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E5 quantifies the gap: with free-space propagation the interference range exceeds 2 hops; plan with a larger --range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13432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27685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 ran rootless on WSL2 without realtime priority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587752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0.16 % of TX slots missed (host timing); a real-root run can enable -r (VMN_EMANE_REALTIME=1)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09544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172968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provided but not built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483864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 not installed on the development machine; the native rootless path was executed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105656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06908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traffic, static topology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379976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node-based broadcast scheduling as specified; unicast/ARP and mobility not exercised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00176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97280" y="496519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NP-hard at scale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27608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exact search hits its limit, the tool reports 'optimum in [LB, K]'; never happened up to N = 200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05840"/>
            <a:ext cx="85953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D7E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by construction, optimal with proof, enforced in EMANE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34290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33B46"/>
          </a:solidFill>
          <a:ln w="12700">
            <a:solidFill>
              <a:srgbClr val="133B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69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distance-2 colouring of the 500 m graph; independently verified, 0 collisions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34290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33B46"/>
          </a:solidFill>
          <a:ln w="12700">
            <a:solidFill>
              <a:srgbClr val="133B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Optimal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4069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slots for the sample grid, proven; 638/638 benchmark networks optimal with proof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46720" y="342900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133B46"/>
          </a:solidFill>
          <a:ln w="12700">
            <a:solidFill>
              <a:srgbClr val="133B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Enforced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4069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EMANE: each sender heard only in its planned slot; 99.88 % on links, 0 % off-links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EC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Demo:  python tdma_scheduler.py --file inputs/grid_4x4.json   ·   bash emane/runner/run_experiments.sh 20 40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TDMA Schedule Planner &amp; Optimizer</dc:title>
  <dc:subject>Vaan Megam Networks - Wireless Protocol Development internship task</dc:subject>
  <dc:creator>Sanjay Suresh</dc:creator>
  <cp:lastModifiedBy>Sanjay Suresh</cp:lastModifiedBy>
  <cp:revision>1</cp:revision>
  <dcterms:created xsi:type="dcterms:W3CDTF">2026-10-25T21:06:40Z</dcterms:created>
  <dcterms:modified xsi:type="dcterms:W3CDTF">2026-10-25T21:06:40Z</dcterms:modified>
</cp:coreProperties>
</file>